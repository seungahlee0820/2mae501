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5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y="6858000" cx="9906000"/>
  <p:notesSz cx="6858000" cy="9144000"/>
  <p:embeddedFontLst>
    <p:embeddedFont>
      <p:font typeface="Montserrat SemiBold"/>
      <p:regular r:id="rId32"/>
      <p:bold r:id="rId33"/>
      <p:italic r:id="rId34"/>
      <p:boldItalic r:id="rId35"/>
    </p:embeddedFont>
    <p:embeddedFont>
      <p:font typeface="Montserrat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120">
          <p15:clr>
            <a:srgbClr val="000000"/>
          </p15:clr>
        </p15:guide>
      </p15:sldGuideLst>
    </p:ext>
    <p:ext uri="http://customooxmlschemas.google.com/">
      <go:slidesCustomData xmlns:go="http://customooxmlschemas.google.com/" r:id="rId40" roundtripDataSignature="AMtx7mg3VczsFeG/yp0nHzKfPzVuAhuZ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E47581-5A05-40A9-B148-7E3A70507CE9}">
  <a:tblStyle styleId="{34E47581-5A05-40A9-B148-7E3A70507C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12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font" Target="fonts/MontserratSemiBold-bold.fntdata"/><Relationship Id="rId10" Type="http://schemas.openxmlformats.org/officeDocument/2006/relationships/slide" Target="slides/slide3.xml"/><Relationship Id="rId32" Type="http://schemas.openxmlformats.org/officeDocument/2006/relationships/font" Target="fonts/MontserratSemiBold-regular.fntdata"/><Relationship Id="rId13" Type="http://schemas.openxmlformats.org/officeDocument/2006/relationships/slide" Target="slides/slide6.xml"/><Relationship Id="rId35" Type="http://schemas.openxmlformats.org/officeDocument/2006/relationships/font" Target="fonts/MontserratSemiBold-boldItalic.fntdata"/><Relationship Id="rId12" Type="http://schemas.openxmlformats.org/officeDocument/2006/relationships/slide" Target="slides/slide5.xml"/><Relationship Id="rId34" Type="http://schemas.openxmlformats.org/officeDocument/2006/relationships/font" Target="fonts/MontserratSemiBold-italic.fntdata"/><Relationship Id="rId15" Type="http://schemas.openxmlformats.org/officeDocument/2006/relationships/slide" Target="slides/slide8.xml"/><Relationship Id="rId37" Type="http://schemas.openxmlformats.org/officeDocument/2006/relationships/font" Target="fonts/Montserrat-bold.fntdata"/><Relationship Id="rId14" Type="http://schemas.openxmlformats.org/officeDocument/2006/relationships/slide" Target="slides/slide7.xml"/><Relationship Id="rId36" Type="http://schemas.openxmlformats.org/officeDocument/2006/relationships/font" Target="fonts/Montserrat-regular.fntdata"/><Relationship Id="rId17" Type="http://schemas.openxmlformats.org/officeDocument/2006/relationships/slide" Target="slides/slide10.xml"/><Relationship Id="rId39" Type="http://schemas.openxmlformats.org/officeDocument/2006/relationships/font" Target="fonts/Montserrat-boldItalic.fntdata"/><Relationship Id="rId16" Type="http://schemas.openxmlformats.org/officeDocument/2006/relationships/slide" Target="slides/slide9.xml"/><Relationship Id="rId38" Type="http://schemas.openxmlformats.org/officeDocument/2006/relationships/font" Target="fonts/Montserrat-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a36b9e89c4_0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a36b9e89c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ga36b9e89c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af59b23b9b_0_14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gaf59b23b9b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gaf59b23b9b_0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af59b23b9b_1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gaf59b23b9b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gaf59b23b9b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af59b23b9b_0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af59b23b9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af59b23b9b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a36b9e89c4_0_13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ga36b9e89c4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ga36b9e89c4_0_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a36b9e89c4_0_1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a36b9e89c4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a36b9e89c4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a36b9e89c4_0_28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a36b9e89c4_0_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7" name="Google Shape;177;ga36b9e89c4_0_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af56e44d72_0_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af56e44d72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gaf56e44d72_0_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ad8afea2a7_0_18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gad8afea2a7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1" name="Google Shape;191;gad8afea2a7_0_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af56e44d72_0_1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af56e44d72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" name="Google Shape;198;gaf56e44d72_0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minute\\ square identification spi proxy </a:t>
            </a:r>
            <a:endParaRPr/>
          </a:p>
        </p:txBody>
      </p:sp>
      <p:sp>
        <p:nvSpPr>
          <p:cNvPr id="204" name="Google Shape;204;p14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ad8afea2a7_1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gad8afea2a7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gad8afea2a7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adbe60d9e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</a:t>
            </a:r>
            <a:endParaRPr/>
          </a:p>
        </p:txBody>
      </p:sp>
      <p:sp>
        <p:nvSpPr>
          <p:cNvPr id="230" name="Google Shape;230;gadbe60d9e0_0_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ad8afea2a7_5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</a:t>
            </a:r>
            <a:endParaRPr/>
          </a:p>
        </p:txBody>
      </p:sp>
      <p:sp>
        <p:nvSpPr>
          <p:cNvPr id="253" name="Google Shape;253;gad8afea2a7_5_3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a57c1fc9d1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</a:t>
            </a:r>
            <a:endParaRPr/>
          </a:p>
        </p:txBody>
      </p:sp>
      <p:sp>
        <p:nvSpPr>
          <p:cNvPr id="280" name="Google Shape;280;ga57c1fc9d1_0_13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ad8afea2a7_5_9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</a:t>
            </a:r>
            <a:endParaRPr/>
          </a:p>
        </p:txBody>
      </p:sp>
      <p:sp>
        <p:nvSpPr>
          <p:cNvPr id="287" name="Google Shape;287;gad8afea2a7_5_9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ad8afea2a7_5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1 minute</a:t>
            </a:r>
            <a:endParaRPr/>
          </a:p>
        </p:txBody>
      </p:sp>
      <p:sp>
        <p:nvSpPr>
          <p:cNvPr id="309" name="Google Shape;309;gad8afea2a7_5_72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ad8afea2a7_4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ad8afea2a7_4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7" name="Google Shape;327;gad8afea2a7_4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af59b23b9b_2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gaf59b23b9b_2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5" name="Google Shape;345;gaf59b23b9b_2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ad8afea2a7_3_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gad8afea2a7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4" name="Google Shape;354;gad8afea2a7_3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ad8afea2a7_3_13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gad8afea2a7_3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1" name="Google Shape;361;gad8afea2a7_3_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ad8afea2a7_3_26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gad8afea2a7_3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8" name="Google Shape;368;gad8afea2a7_3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ad8afea2a7_3_3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ad8afea2a7_3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5" name="Google Shape;375;gad8afea2a7_3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position personnalisée">
  <p:cSld name="Disposition personnalisé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/>
          <p:nvPr>
            <p:ph idx="1" type="body"/>
          </p:nvPr>
        </p:nvSpPr>
        <p:spPr>
          <a:xfrm>
            <a:off x="2126249" y="4813491"/>
            <a:ext cx="2458562" cy="28138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1"/>
          <p:cNvSpPr txBox="1"/>
          <p:nvPr>
            <p:ph idx="2" type="body"/>
          </p:nvPr>
        </p:nvSpPr>
        <p:spPr>
          <a:xfrm>
            <a:off x="681038" y="3926860"/>
            <a:ext cx="4126489" cy="79173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b="0" i="1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1"/>
          <p:cNvSpPr txBox="1"/>
          <p:nvPr>
            <p:ph type="title"/>
          </p:nvPr>
        </p:nvSpPr>
        <p:spPr>
          <a:xfrm>
            <a:off x="681036" y="2208813"/>
            <a:ext cx="5247815" cy="14192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21"/>
          <p:cNvSpPr txBox="1"/>
          <p:nvPr>
            <p:ph idx="3" type="body"/>
          </p:nvPr>
        </p:nvSpPr>
        <p:spPr>
          <a:xfrm>
            <a:off x="681036" y="4816785"/>
            <a:ext cx="1323348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21"/>
          <p:cNvSpPr txBox="1"/>
          <p:nvPr>
            <p:ph idx="4" type="body"/>
          </p:nvPr>
        </p:nvSpPr>
        <p:spPr>
          <a:xfrm>
            <a:off x="1887842" y="4816785"/>
            <a:ext cx="191970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17" name="Google Shape;17;p21"/>
          <p:cNvCxnSpPr/>
          <p:nvPr/>
        </p:nvCxnSpPr>
        <p:spPr>
          <a:xfrm>
            <a:off x="0" y="3702240"/>
            <a:ext cx="5646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8" name="Google Shape;18;p21"/>
          <p:cNvSpPr/>
          <p:nvPr/>
        </p:nvSpPr>
        <p:spPr>
          <a:xfrm>
            <a:off x="1026743" y="-10332"/>
            <a:ext cx="8890860" cy="2783954"/>
          </a:xfrm>
          <a:custGeom>
            <a:rect b="b" l="l" r="r" t="t"/>
            <a:pathLst>
              <a:path extrusionOk="0" h="2783954" w="8890860">
                <a:moveTo>
                  <a:pt x="0" y="9348"/>
                </a:moveTo>
                <a:lnTo>
                  <a:pt x="8889709" y="0"/>
                </a:lnTo>
                <a:cubicBezTo>
                  <a:pt x="8890093" y="76181"/>
                  <a:pt x="8890476" y="152361"/>
                  <a:pt x="8890860" y="228542"/>
                </a:cubicBezTo>
                <a:lnTo>
                  <a:pt x="6099279" y="2783954"/>
                </a:lnTo>
                <a:lnTo>
                  <a:pt x="204430" y="955729"/>
                </a:lnTo>
                <a:lnTo>
                  <a:pt x="0" y="9348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-62775" l="-399" r="-397" t="-60195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uverture titre">
  <p:cSld name="Couverture titr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4"/>
          <p:cNvSpPr txBox="1"/>
          <p:nvPr/>
        </p:nvSpPr>
        <p:spPr>
          <a:xfrm>
            <a:off x="9438968" y="6356350"/>
            <a:ext cx="39067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4"/>
          <p:cNvSpPr txBox="1"/>
          <p:nvPr>
            <p:ph type="title"/>
          </p:nvPr>
        </p:nvSpPr>
        <p:spPr>
          <a:xfrm>
            <a:off x="681036" y="2208813"/>
            <a:ext cx="5247815" cy="14192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22" name="Google Shape;22;p24"/>
          <p:cNvCxnSpPr/>
          <p:nvPr/>
        </p:nvCxnSpPr>
        <p:spPr>
          <a:xfrm>
            <a:off x="0" y="3702240"/>
            <a:ext cx="5646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uv titre + sous titre">
  <p:cSld name="Couv titre + sous titre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5"/>
          <p:cNvSpPr txBox="1"/>
          <p:nvPr>
            <p:ph idx="1" type="body"/>
          </p:nvPr>
        </p:nvSpPr>
        <p:spPr>
          <a:xfrm>
            <a:off x="2126249" y="4813491"/>
            <a:ext cx="2458562" cy="28138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25"/>
          <p:cNvSpPr txBox="1"/>
          <p:nvPr>
            <p:ph idx="2" type="body"/>
          </p:nvPr>
        </p:nvSpPr>
        <p:spPr>
          <a:xfrm>
            <a:off x="681038" y="3926860"/>
            <a:ext cx="4126489" cy="79173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b="0" i="1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25"/>
          <p:cNvSpPr txBox="1"/>
          <p:nvPr>
            <p:ph type="title"/>
          </p:nvPr>
        </p:nvSpPr>
        <p:spPr>
          <a:xfrm>
            <a:off x="681036" y="2208813"/>
            <a:ext cx="5247815" cy="14192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25"/>
          <p:cNvSpPr txBox="1"/>
          <p:nvPr>
            <p:ph idx="3" type="body"/>
          </p:nvPr>
        </p:nvSpPr>
        <p:spPr>
          <a:xfrm>
            <a:off x="681036" y="4816785"/>
            <a:ext cx="1323348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25"/>
          <p:cNvSpPr txBox="1"/>
          <p:nvPr>
            <p:ph idx="4" type="body"/>
          </p:nvPr>
        </p:nvSpPr>
        <p:spPr>
          <a:xfrm>
            <a:off x="1887842" y="4816785"/>
            <a:ext cx="191970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29" name="Google Shape;29;p25"/>
          <p:cNvCxnSpPr/>
          <p:nvPr/>
        </p:nvCxnSpPr>
        <p:spPr>
          <a:xfrm>
            <a:off x="0" y="3702240"/>
            <a:ext cx="5646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uv photo">
  <p:cSld name="Couv photo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/>
          <p:nvPr/>
        </p:nvSpPr>
        <p:spPr>
          <a:xfrm>
            <a:off x="9438968" y="6356350"/>
            <a:ext cx="39067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6"/>
          <p:cNvSpPr txBox="1"/>
          <p:nvPr>
            <p:ph idx="1" type="body"/>
          </p:nvPr>
        </p:nvSpPr>
        <p:spPr>
          <a:xfrm>
            <a:off x="681038" y="3926860"/>
            <a:ext cx="4126489" cy="79173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b="0" i="1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26"/>
          <p:cNvSpPr txBox="1"/>
          <p:nvPr>
            <p:ph type="title"/>
          </p:nvPr>
        </p:nvSpPr>
        <p:spPr>
          <a:xfrm>
            <a:off x="681036" y="2208813"/>
            <a:ext cx="5247815" cy="14192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26"/>
          <p:cNvSpPr txBox="1"/>
          <p:nvPr>
            <p:ph idx="2" type="body"/>
          </p:nvPr>
        </p:nvSpPr>
        <p:spPr>
          <a:xfrm>
            <a:off x="2126249" y="4813491"/>
            <a:ext cx="2458562" cy="28138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26"/>
          <p:cNvSpPr txBox="1"/>
          <p:nvPr>
            <p:ph idx="3" type="body"/>
          </p:nvPr>
        </p:nvSpPr>
        <p:spPr>
          <a:xfrm>
            <a:off x="681036" y="4816785"/>
            <a:ext cx="1323348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26"/>
          <p:cNvSpPr txBox="1"/>
          <p:nvPr>
            <p:ph idx="4" type="body"/>
          </p:nvPr>
        </p:nvSpPr>
        <p:spPr>
          <a:xfrm>
            <a:off x="1887842" y="4816785"/>
            <a:ext cx="191970" cy="27809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26"/>
          <p:cNvSpPr/>
          <p:nvPr>
            <p:ph idx="5" type="pic"/>
          </p:nvPr>
        </p:nvSpPr>
        <p:spPr>
          <a:xfrm>
            <a:off x="1028193" y="-30210"/>
            <a:ext cx="8923162" cy="28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38" name="Google Shape;38;p26"/>
          <p:cNvCxnSpPr/>
          <p:nvPr/>
        </p:nvCxnSpPr>
        <p:spPr>
          <a:xfrm>
            <a:off x="0" y="3702240"/>
            <a:ext cx="5646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+ textes 2">
  <p:cSld name="Titre + textes 2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3"/>
          <p:cNvSpPr txBox="1"/>
          <p:nvPr/>
        </p:nvSpPr>
        <p:spPr>
          <a:xfrm>
            <a:off x="7946135" y="6433565"/>
            <a:ext cx="12981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ISAE-SUPAERO    /</a:t>
            </a:r>
            <a:endParaRPr b="1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3"/>
          <p:cNvSpPr txBox="1"/>
          <p:nvPr>
            <p:ph idx="1" type="body"/>
          </p:nvPr>
        </p:nvSpPr>
        <p:spPr>
          <a:xfrm>
            <a:off x="440140" y="1671336"/>
            <a:ext cx="9015900" cy="3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23"/>
          <p:cNvSpPr txBox="1"/>
          <p:nvPr>
            <p:ph idx="2" type="body"/>
          </p:nvPr>
        </p:nvSpPr>
        <p:spPr>
          <a:xfrm>
            <a:off x="440140" y="1987248"/>
            <a:ext cx="9015900" cy="4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23"/>
          <p:cNvSpPr txBox="1"/>
          <p:nvPr>
            <p:ph idx="3" type="body"/>
          </p:nvPr>
        </p:nvSpPr>
        <p:spPr>
          <a:xfrm>
            <a:off x="4356576" y="6433565"/>
            <a:ext cx="25152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" name="Google Shape;46;p23"/>
          <p:cNvSpPr txBox="1"/>
          <p:nvPr>
            <p:ph idx="4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" name="Google Shape;47;p23"/>
          <p:cNvSpPr txBox="1"/>
          <p:nvPr>
            <p:ph idx="5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23"/>
          <p:cNvSpPr txBox="1"/>
          <p:nvPr>
            <p:ph idx="6" type="body"/>
          </p:nvPr>
        </p:nvSpPr>
        <p:spPr>
          <a:xfrm>
            <a:off x="7061961" y="6434138"/>
            <a:ext cx="791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8575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8575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23"/>
          <p:cNvSpPr txBox="1"/>
          <p:nvPr/>
        </p:nvSpPr>
        <p:spPr>
          <a:xfrm>
            <a:off x="9164648" y="6346190"/>
            <a:ext cx="390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3"/>
          <p:cNvSpPr txBox="1"/>
          <p:nvPr>
            <p:ph idx="7" type="body"/>
          </p:nvPr>
        </p:nvSpPr>
        <p:spPr>
          <a:xfrm>
            <a:off x="398462" y="457916"/>
            <a:ext cx="9033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position personnalisée">
  <p:cSld name="Disposition personnalisé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7"/>
          <p:cNvSpPr txBox="1"/>
          <p:nvPr>
            <p:ph type="ctrTitle"/>
          </p:nvPr>
        </p:nvSpPr>
        <p:spPr>
          <a:xfrm>
            <a:off x="398801" y="1832547"/>
            <a:ext cx="3537000" cy="5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accent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27"/>
          <p:cNvSpPr txBox="1"/>
          <p:nvPr>
            <p:ph idx="1" type="body"/>
          </p:nvPr>
        </p:nvSpPr>
        <p:spPr>
          <a:xfrm>
            <a:off x="398801" y="2520325"/>
            <a:ext cx="35370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2600"/>
              <a:buFont typeface="Arial"/>
              <a:buNone/>
              <a:defRPr b="0" i="1" sz="2600" u="none" cap="none" strike="noStrike">
                <a:solidFill>
                  <a:schemeClr val="accent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b="0" i="1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27"/>
          <p:cNvSpPr txBox="1"/>
          <p:nvPr>
            <p:ph idx="2" type="body"/>
          </p:nvPr>
        </p:nvSpPr>
        <p:spPr>
          <a:xfrm>
            <a:off x="4267200" y="1831976"/>
            <a:ext cx="51642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27"/>
          <p:cNvSpPr txBox="1"/>
          <p:nvPr>
            <p:ph idx="3" type="body"/>
          </p:nvPr>
        </p:nvSpPr>
        <p:spPr>
          <a:xfrm>
            <a:off x="4267200" y="2147888"/>
            <a:ext cx="5164200" cy="22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56" name="Google Shape;56;p27"/>
          <p:cNvCxnSpPr/>
          <p:nvPr/>
        </p:nvCxnSpPr>
        <p:spPr>
          <a:xfrm>
            <a:off x="4080933" y="1832547"/>
            <a:ext cx="0" cy="502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7" name="Google Shape;57;p27"/>
          <p:cNvSpPr txBox="1"/>
          <p:nvPr>
            <p:ph idx="4" type="body"/>
          </p:nvPr>
        </p:nvSpPr>
        <p:spPr>
          <a:xfrm>
            <a:off x="4267200" y="4674030"/>
            <a:ext cx="51642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" name="Google Shape;58;p27"/>
          <p:cNvSpPr txBox="1"/>
          <p:nvPr>
            <p:ph idx="5" type="body"/>
          </p:nvPr>
        </p:nvSpPr>
        <p:spPr>
          <a:xfrm>
            <a:off x="4267200" y="4989942"/>
            <a:ext cx="5164200" cy="12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27"/>
          <p:cNvSpPr txBox="1"/>
          <p:nvPr/>
        </p:nvSpPr>
        <p:spPr>
          <a:xfrm>
            <a:off x="7946135" y="6433565"/>
            <a:ext cx="12981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ISAE-SUPAERO    /</a:t>
            </a:r>
            <a:endParaRPr b="1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7"/>
          <p:cNvSpPr txBox="1"/>
          <p:nvPr>
            <p:ph idx="6" type="body"/>
          </p:nvPr>
        </p:nvSpPr>
        <p:spPr>
          <a:xfrm>
            <a:off x="4356576" y="6433565"/>
            <a:ext cx="25152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27"/>
          <p:cNvSpPr txBox="1"/>
          <p:nvPr>
            <p:ph idx="7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27"/>
          <p:cNvSpPr txBox="1"/>
          <p:nvPr>
            <p:ph idx="8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27"/>
          <p:cNvSpPr txBox="1"/>
          <p:nvPr>
            <p:ph idx="9" type="body"/>
          </p:nvPr>
        </p:nvSpPr>
        <p:spPr>
          <a:xfrm>
            <a:off x="7061961" y="6434138"/>
            <a:ext cx="791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8575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8575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4" name="Google Shape;64;p27"/>
          <p:cNvSpPr txBox="1"/>
          <p:nvPr/>
        </p:nvSpPr>
        <p:spPr>
          <a:xfrm>
            <a:off x="9164648" y="6346190"/>
            <a:ext cx="390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7"/>
          <p:cNvSpPr txBox="1"/>
          <p:nvPr>
            <p:ph idx="13" type="body"/>
          </p:nvPr>
        </p:nvSpPr>
        <p:spPr>
          <a:xfrm>
            <a:off x="398462" y="457916"/>
            <a:ext cx="9033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es + graphique">
  <p:cSld name="Textes + graphique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8"/>
          <p:cNvSpPr txBox="1"/>
          <p:nvPr>
            <p:ph type="ctrTitle"/>
          </p:nvPr>
        </p:nvSpPr>
        <p:spPr>
          <a:xfrm>
            <a:off x="398801" y="1832547"/>
            <a:ext cx="3537000" cy="5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Georgia"/>
              <a:buNone/>
              <a:defRPr b="1" i="0" sz="3000" u="none" cap="none" strike="noStrike">
                <a:solidFill>
                  <a:schemeClr val="accent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28"/>
          <p:cNvSpPr txBox="1"/>
          <p:nvPr>
            <p:ph idx="1" type="body"/>
          </p:nvPr>
        </p:nvSpPr>
        <p:spPr>
          <a:xfrm>
            <a:off x="398801" y="2520325"/>
            <a:ext cx="35370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2600"/>
              <a:buFont typeface="Arial"/>
              <a:buNone/>
              <a:defRPr b="0" i="1" sz="2600" u="none" cap="none" strike="noStrike">
                <a:solidFill>
                  <a:schemeClr val="accent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b="0" i="1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1" sz="1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28"/>
          <p:cNvSpPr txBox="1"/>
          <p:nvPr>
            <p:ph idx="2" type="body"/>
          </p:nvPr>
        </p:nvSpPr>
        <p:spPr>
          <a:xfrm>
            <a:off x="4267200" y="1831976"/>
            <a:ext cx="5164200" cy="16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70" name="Google Shape;70;p28"/>
          <p:cNvCxnSpPr/>
          <p:nvPr/>
        </p:nvCxnSpPr>
        <p:spPr>
          <a:xfrm>
            <a:off x="4080933" y="1832547"/>
            <a:ext cx="0" cy="502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" name="Google Shape;71;p28"/>
          <p:cNvSpPr/>
          <p:nvPr>
            <p:ph idx="3" type="chart"/>
          </p:nvPr>
        </p:nvSpPr>
        <p:spPr>
          <a:xfrm>
            <a:off x="398463" y="3709988"/>
            <a:ext cx="3537000" cy="28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28"/>
          <p:cNvSpPr txBox="1"/>
          <p:nvPr/>
        </p:nvSpPr>
        <p:spPr>
          <a:xfrm>
            <a:off x="7946135" y="6433565"/>
            <a:ext cx="12981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ISAE-SUPAERO    /</a:t>
            </a:r>
            <a:endParaRPr b="1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8"/>
          <p:cNvSpPr txBox="1"/>
          <p:nvPr>
            <p:ph idx="4" type="body"/>
          </p:nvPr>
        </p:nvSpPr>
        <p:spPr>
          <a:xfrm>
            <a:off x="4267200" y="3507698"/>
            <a:ext cx="5164200" cy="12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28"/>
          <p:cNvSpPr txBox="1"/>
          <p:nvPr>
            <p:ph idx="5" type="body"/>
          </p:nvPr>
        </p:nvSpPr>
        <p:spPr>
          <a:xfrm>
            <a:off x="4356576" y="6433565"/>
            <a:ext cx="25152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28"/>
          <p:cNvSpPr txBox="1"/>
          <p:nvPr>
            <p:ph idx="6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6" name="Google Shape;76;p28"/>
          <p:cNvSpPr txBox="1"/>
          <p:nvPr>
            <p:ph idx="7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28"/>
          <p:cNvSpPr txBox="1"/>
          <p:nvPr>
            <p:ph idx="8" type="body"/>
          </p:nvPr>
        </p:nvSpPr>
        <p:spPr>
          <a:xfrm>
            <a:off x="7061961" y="6434138"/>
            <a:ext cx="791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8575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8575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28"/>
          <p:cNvSpPr txBox="1"/>
          <p:nvPr/>
        </p:nvSpPr>
        <p:spPr>
          <a:xfrm>
            <a:off x="9164648" y="6346190"/>
            <a:ext cx="390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8"/>
          <p:cNvSpPr txBox="1"/>
          <p:nvPr>
            <p:ph idx="9" type="body"/>
          </p:nvPr>
        </p:nvSpPr>
        <p:spPr>
          <a:xfrm>
            <a:off x="398462" y="457916"/>
            <a:ext cx="9033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e + image">
  <p:cSld name="Texte + image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9"/>
          <p:cNvSpPr txBox="1"/>
          <p:nvPr>
            <p:ph idx="1" type="body"/>
          </p:nvPr>
        </p:nvSpPr>
        <p:spPr>
          <a:xfrm>
            <a:off x="5631775" y="1831976"/>
            <a:ext cx="3799500" cy="5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2" name="Google Shape;82;p29"/>
          <p:cNvSpPr txBox="1"/>
          <p:nvPr>
            <p:ph idx="2" type="body"/>
          </p:nvPr>
        </p:nvSpPr>
        <p:spPr>
          <a:xfrm>
            <a:off x="5631775" y="2423887"/>
            <a:ext cx="3799500" cy="38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83" name="Google Shape;83;p29"/>
          <p:cNvCxnSpPr/>
          <p:nvPr/>
        </p:nvCxnSpPr>
        <p:spPr>
          <a:xfrm>
            <a:off x="5430645" y="1832547"/>
            <a:ext cx="0" cy="443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4" name="Google Shape;84;p29"/>
          <p:cNvSpPr/>
          <p:nvPr>
            <p:ph idx="3" type="pic"/>
          </p:nvPr>
        </p:nvSpPr>
        <p:spPr>
          <a:xfrm>
            <a:off x="398463" y="1831976"/>
            <a:ext cx="4826700" cy="3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29"/>
          <p:cNvSpPr txBox="1"/>
          <p:nvPr>
            <p:ph idx="4" type="body"/>
          </p:nvPr>
        </p:nvSpPr>
        <p:spPr>
          <a:xfrm>
            <a:off x="398463" y="5615084"/>
            <a:ext cx="4826700" cy="5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29"/>
          <p:cNvSpPr txBox="1"/>
          <p:nvPr/>
        </p:nvSpPr>
        <p:spPr>
          <a:xfrm>
            <a:off x="7946135" y="6433565"/>
            <a:ext cx="12981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ISAE-SUPAERO    /</a:t>
            </a:r>
            <a:endParaRPr b="1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29"/>
          <p:cNvSpPr txBox="1"/>
          <p:nvPr>
            <p:ph idx="5" type="body"/>
          </p:nvPr>
        </p:nvSpPr>
        <p:spPr>
          <a:xfrm>
            <a:off x="4356576" y="6433565"/>
            <a:ext cx="25152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29"/>
          <p:cNvSpPr txBox="1"/>
          <p:nvPr>
            <p:ph idx="6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9" name="Google Shape;89;p29"/>
          <p:cNvSpPr txBox="1"/>
          <p:nvPr>
            <p:ph idx="7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29"/>
          <p:cNvSpPr txBox="1"/>
          <p:nvPr>
            <p:ph idx="8" type="body"/>
          </p:nvPr>
        </p:nvSpPr>
        <p:spPr>
          <a:xfrm>
            <a:off x="7061961" y="6434138"/>
            <a:ext cx="791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8575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8575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29"/>
          <p:cNvSpPr txBox="1"/>
          <p:nvPr/>
        </p:nvSpPr>
        <p:spPr>
          <a:xfrm>
            <a:off x="9164648" y="6346190"/>
            <a:ext cx="390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9"/>
          <p:cNvSpPr txBox="1"/>
          <p:nvPr>
            <p:ph idx="9" type="body"/>
          </p:nvPr>
        </p:nvSpPr>
        <p:spPr>
          <a:xfrm>
            <a:off x="398462" y="457916"/>
            <a:ext cx="9033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1717" y="5448097"/>
            <a:ext cx="1306764" cy="79324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2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906000" cy="12086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b="8397" l="1826" r="8205" t="49656"/>
          <a:stretch/>
        </p:blipFill>
        <p:spPr>
          <a:xfrm>
            <a:off x="993925" y="-66275"/>
            <a:ext cx="9126144" cy="28254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>
            <p:ph idx="2" type="body"/>
          </p:nvPr>
        </p:nvSpPr>
        <p:spPr>
          <a:xfrm>
            <a:off x="425850" y="3620525"/>
            <a:ext cx="7632300" cy="24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b="1" lang="en-US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IoT: Bernardo Sata, Gonçalo Fontes Neves</a:t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b="1" lang="en-US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Manage: Alberto Gonzalez, Seungah Lee</a:t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b="1" lang="en-US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AI: Brian Franklin, Mohamed Eltablawy, Adrien Mencik</a:t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b="1" lang="en-US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GUI: Gabriella Catalan, Aizar Berlanga</a:t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>
            <p:ph idx="4" type="body"/>
          </p:nvPr>
        </p:nvSpPr>
        <p:spPr>
          <a:xfrm>
            <a:off x="1887842" y="4816785"/>
            <a:ext cx="192000" cy="2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>
            <a:off x="7089900" y="273675"/>
            <a:ext cx="5582525" cy="4969550"/>
          </a:xfrm>
          <a:prstGeom prst="flowChartDecision">
            <a:avLst/>
          </a:prstGeom>
          <a:solidFill>
            <a:schemeClr val="accen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993925" y="-66275"/>
            <a:ext cx="281700" cy="1268400"/>
          </a:xfrm>
          <a:prstGeom prst="rtTriangle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0" y="530750"/>
            <a:ext cx="7106400" cy="22284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 txBox="1"/>
          <p:nvPr>
            <p:ph type="title"/>
          </p:nvPr>
        </p:nvSpPr>
        <p:spPr>
          <a:xfrm>
            <a:off x="425850" y="1675200"/>
            <a:ext cx="5350500" cy="175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380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IoT project</a:t>
            </a:r>
            <a:endParaRPr b="0" sz="3800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05" name="Google Shape;105;p1"/>
          <p:cNvSpPr/>
          <p:nvPr/>
        </p:nvSpPr>
        <p:spPr>
          <a:xfrm>
            <a:off x="7106475" y="2759150"/>
            <a:ext cx="2799600" cy="8691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7139600" y="3620525"/>
            <a:ext cx="2799600" cy="162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a36b9e89c4_0_0"/>
          <p:cNvSpPr txBox="1"/>
          <p:nvPr/>
        </p:nvSpPr>
        <p:spPr>
          <a:xfrm>
            <a:off x="581100" y="1683325"/>
            <a:ext cx="8743800" cy="47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name 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 of the future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goals 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 a system to monitor and control a finite set of factories remotely.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project will consider two different factories. Factory ‘Le Monde’ and ‘Chocolatine’. Both factories will be monitored thanks to a redundant system of three environmental sensors. After merging the data of the sensors using a clustering algorithm, it is sent to a server which is in charge of storing the information and send it back to a remote display and to a prediction block. The server also sends data back to the factories regarding the state of two actuators: a fan and a LED.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a36b9e89c4_0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Introduction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" name="Google Shape;119;gaf59b23b9b_0_14"/>
          <p:cNvGraphicFramePr/>
          <p:nvPr/>
        </p:nvGraphicFramePr>
        <p:xfrm>
          <a:off x="0" y="1222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{34E47581-5A05-40A9-B148-7E3A70507CE9}</a:tableStyleId>
              </a:tblPr>
              <a:tblGrid>
                <a:gridCol w="4953000"/>
                <a:gridCol w="4953000"/>
              </a:tblGrid>
              <a:tr h="5635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20" name="Google Shape;120;gaf59b23b9b_0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4300" y="1524000"/>
            <a:ext cx="1156775" cy="115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af59b23b9b_0_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32000" y="1524000"/>
            <a:ext cx="1156775" cy="115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gaf59b23b9b_0_14"/>
          <p:cNvPicPr preferRelativeResize="0"/>
          <p:nvPr/>
        </p:nvPicPr>
        <p:blipFill rotWithShape="1">
          <a:blip r:embed="rId5">
            <a:alphaModFix/>
          </a:blip>
          <a:srcRect b="19355" l="18027" r="21247" t="18187"/>
          <a:stretch/>
        </p:blipFill>
        <p:spPr>
          <a:xfrm>
            <a:off x="1831988" y="3971875"/>
            <a:ext cx="1156776" cy="118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gaf59b23b9b_0_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4300" y="3961502"/>
            <a:ext cx="1156775" cy="1210583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af59b23b9b_0_14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Introduction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5" name="Google Shape;125;gaf59b23b9b_0_14"/>
          <p:cNvSpPr txBox="1"/>
          <p:nvPr/>
        </p:nvSpPr>
        <p:spPr>
          <a:xfrm>
            <a:off x="1038775" y="2680775"/>
            <a:ext cx="2743200" cy="1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IoT</a:t>
            </a:r>
            <a:endParaRPr b="1" i="0" sz="1800" u="sng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Bernardo Sata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Gonçalo Fontes Neves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gaf59b23b9b_0_14"/>
          <p:cNvSpPr txBox="1"/>
          <p:nvPr/>
        </p:nvSpPr>
        <p:spPr>
          <a:xfrm>
            <a:off x="6061088" y="2680775"/>
            <a:ext cx="2743200" cy="1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Data Management</a:t>
            </a:r>
            <a:endParaRPr b="1" i="0" sz="1800" u="sng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Alberto Gonzalez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Seungah Lee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gaf59b23b9b_0_14"/>
          <p:cNvSpPr txBox="1"/>
          <p:nvPr/>
        </p:nvSpPr>
        <p:spPr>
          <a:xfrm>
            <a:off x="1038763" y="5060425"/>
            <a:ext cx="2743200" cy="1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AI</a:t>
            </a:r>
            <a:endParaRPr b="1" i="0" sz="1800" u="sng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Brian Franklin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Mohamed Eltablawy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Adrien Mencik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gaf59b23b9b_0_14"/>
          <p:cNvSpPr txBox="1"/>
          <p:nvPr/>
        </p:nvSpPr>
        <p:spPr>
          <a:xfrm>
            <a:off x="6061100" y="5161700"/>
            <a:ext cx="2743200" cy="1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GUI</a:t>
            </a:r>
            <a:endParaRPr b="1" i="0" sz="1800" u="sng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Gabriella Catalan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Aizar Berlanga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gaf59b23b9b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3337" y="4514215"/>
            <a:ext cx="2662662" cy="1826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af59b23b9b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3337" y="1872368"/>
            <a:ext cx="2662662" cy="1826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22250" y="1397300"/>
            <a:ext cx="678750" cy="697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gaf59b23b9b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68787" y="1602418"/>
            <a:ext cx="2662662" cy="182658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gaf59b23b9b_1_0"/>
          <p:cNvCxnSpPr>
            <a:stCxn id="135" idx="3"/>
            <a:endCxn id="137" idx="1"/>
          </p:cNvCxnSpPr>
          <p:nvPr/>
        </p:nvCxnSpPr>
        <p:spPr>
          <a:xfrm flipH="1" rot="10800000">
            <a:off x="3585999" y="2515660"/>
            <a:ext cx="3182700" cy="270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9" name="Google Shape;139;gaf59b23b9b_1_0"/>
          <p:cNvCxnSpPr>
            <a:stCxn id="134" idx="3"/>
            <a:endCxn id="137" idx="1"/>
          </p:cNvCxnSpPr>
          <p:nvPr/>
        </p:nvCxnSpPr>
        <p:spPr>
          <a:xfrm flipH="1" rot="10800000">
            <a:off x="3585999" y="2515706"/>
            <a:ext cx="3182700" cy="29118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0" name="Google Shape;140;gaf59b23b9b_1_0"/>
          <p:cNvCxnSpPr>
            <a:endCxn id="135" idx="3"/>
          </p:cNvCxnSpPr>
          <p:nvPr/>
        </p:nvCxnSpPr>
        <p:spPr>
          <a:xfrm flipH="1">
            <a:off x="3585999" y="2518360"/>
            <a:ext cx="3202500" cy="267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1" name="Google Shape;141;gaf59b23b9b_1_0"/>
          <p:cNvCxnSpPr>
            <a:stCxn id="137" idx="1"/>
            <a:endCxn id="134" idx="3"/>
          </p:cNvCxnSpPr>
          <p:nvPr/>
        </p:nvCxnSpPr>
        <p:spPr>
          <a:xfrm flipH="1">
            <a:off x="3586087" y="2515710"/>
            <a:ext cx="3182700" cy="29118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2" name="Google Shape;142;gaf59b23b9b_1_0"/>
          <p:cNvSpPr txBox="1"/>
          <p:nvPr/>
        </p:nvSpPr>
        <p:spPr>
          <a:xfrm>
            <a:off x="1081363" y="1602425"/>
            <a:ext cx="2346600" cy="2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Factory Le Monde</a:t>
            </a:r>
            <a:endParaRPr b="0" i="0" sz="1400" u="none" cap="none" strike="noStrik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43" name="Google Shape;143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10138" y="2166850"/>
            <a:ext cx="678750" cy="69773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af59b23b9b_1_0"/>
          <p:cNvSpPr txBox="1"/>
          <p:nvPr/>
        </p:nvSpPr>
        <p:spPr>
          <a:xfrm>
            <a:off x="1081363" y="4216700"/>
            <a:ext cx="2346600" cy="2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Factory Chocolatine</a:t>
            </a:r>
            <a:endParaRPr b="0" i="0" sz="1400" u="none" cap="none" strike="noStrik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45" name="Google Shape;145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10138" y="2928850"/>
            <a:ext cx="678750" cy="697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22250" y="4216700"/>
            <a:ext cx="678750" cy="697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10138" y="4986250"/>
            <a:ext cx="678750" cy="697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gaf59b23b9b_1_0"/>
          <p:cNvPicPr preferRelativeResize="0"/>
          <p:nvPr/>
        </p:nvPicPr>
        <p:blipFill rotWithShape="1">
          <a:blip r:embed="rId4">
            <a:alphaModFix/>
          </a:blip>
          <a:srcRect b="44019" l="27693" r="27196" t="9714"/>
          <a:stretch/>
        </p:blipFill>
        <p:spPr>
          <a:xfrm>
            <a:off x="310138" y="5748250"/>
            <a:ext cx="678750" cy="69773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af59b23b9b_1_0"/>
          <p:cNvSpPr txBox="1"/>
          <p:nvPr/>
        </p:nvSpPr>
        <p:spPr>
          <a:xfrm>
            <a:off x="6926813" y="1397300"/>
            <a:ext cx="2346600" cy="2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Server </a:t>
            </a:r>
            <a:endParaRPr b="0" i="0" sz="1400" u="none" cap="none" strike="noStrik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50" name="Google Shape;150;gaf59b23b9b_1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System Configuration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151" name="Google Shape;151;gaf59b23b9b_1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59250" y="3982600"/>
            <a:ext cx="4172200" cy="235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af59b23b9b_1_0"/>
          <p:cNvSpPr/>
          <p:nvPr/>
        </p:nvSpPr>
        <p:spPr>
          <a:xfrm>
            <a:off x="7855525" y="3429000"/>
            <a:ext cx="389700" cy="4716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af59b23b9b_0_0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Conceptual Analysis: Requirement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159" name="Google Shape;159;gaf59b23b9b_0_0"/>
          <p:cNvPicPr preferRelativeResize="0"/>
          <p:nvPr/>
        </p:nvPicPr>
        <p:blipFill rotWithShape="1">
          <a:blip r:embed="rId3">
            <a:alphaModFix/>
          </a:blip>
          <a:srcRect b="0" l="0" r="42895" t="0"/>
          <a:stretch/>
        </p:blipFill>
        <p:spPr>
          <a:xfrm>
            <a:off x="446175" y="1214750"/>
            <a:ext cx="8576651" cy="5273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ga36b9e89c4_0_13"/>
          <p:cNvPicPr preferRelativeResize="0"/>
          <p:nvPr/>
        </p:nvPicPr>
        <p:blipFill rotWithShape="1">
          <a:blip r:embed="rId3">
            <a:alphaModFix/>
          </a:blip>
          <a:srcRect b="22540" l="40408" r="0" t="0"/>
          <a:stretch/>
        </p:blipFill>
        <p:spPr>
          <a:xfrm>
            <a:off x="312000" y="1693950"/>
            <a:ext cx="9282000" cy="423616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ga36b9e89c4_0_13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Conceptual Analysis: Requirement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ga36b9e89c4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5675" y="1425400"/>
            <a:ext cx="8374650" cy="476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a36b9e89c4_0_19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Use Case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a36b9e89c4_0_28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Sequence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180" name="Google Shape;180;ga36b9e89c4_0_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243025"/>
            <a:ext cx="10008401" cy="513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af56e44d72_0_9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Block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187" name="Google Shape;187;gaf56e44d72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30200"/>
            <a:ext cx="9601200" cy="36092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ad8afea2a7_0_18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Block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194" name="Google Shape;194;gad8afea2a7_0_18"/>
          <p:cNvPicPr preferRelativeResize="0"/>
          <p:nvPr/>
        </p:nvPicPr>
        <p:blipFill rotWithShape="1">
          <a:blip r:embed="rId3">
            <a:alphaModFix/>
          </a:blip>
          <a:srcRect b="0" l="0" r="41877" t="29463"/>
          <a:stretch/>
        </p:blipFill>
        <p:spPr>
          <a:xfrm>
            <a:off x="570350" y="1721624"/>
            <a:ext cx="8765301" cy="3998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af56e44d72_0_15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Block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201" name="Google Shape;201;gaf56e44d72_0_15"/>
          <p:cNvPicPr preferRelativeResize="0"/>
          <p:nvPr/>
        </p:nvPicPr>
        <p:blipFill rotWithShape="1">
          <a:blip r:embed="rId3">
            <a:alphaModFix/>
          </a:blip>
          <a:srcRect b="0" l="57610" r="-580" t="26766"/>
          <a:stretch/>
        </p:blipFill>
        <p:spPr>
          <a:xfrm>
            <a:off x="1776238" y="1689450"/>
            <a:ext cx="6621874" cy="4242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113" y="1553366"/>
            <a:ext cx="9575774" cy="440762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4"/>
          <p:cNvSpPr txBox="1"/>
          <p:nvPr>
            <p:ph idx="7" type="body"/>
          </p:nvPr>
        </p:nvSpPr>
        <p:spPr>
          <a:xfrm>
            <a:off x="446175" y="34690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Functional Analysis: Internal Block Diagram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8" name="Google Shape;208;p14"/>
          <p:cNvSpPr txBox="1"/>
          <p:nvPr/>
        </p:nvSpPr>
        <p:spPr>
          <a:xfrm>
            <a:off x="237600" y="4733925"/>
            <a:ext cx="6753900" cy="18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Sensor and Actuator data: IoT → Manage Data → GUI &amp; AI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Prediction result: AI → Manage Data →  Command Control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Command:  GUI → Manage Data → IoT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 box : sensor, actuator, prediction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Yellow box: commands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4"/>
          <p:cNvSpPr txBox="1"/>
          <p:nvPr/>
        </p:nvSpPr>
        <p:spPr>
          <a:xfrm>
            <a:off x="4143375" y="2705100"/>
            <a:ext cx="285900" cy="2667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4"/>
          <p:cNvSpPr txBox="1"/>
          <p:nvPr/>
        </p:nvSpPr>
        <p:spPr>
          <a:xfrm>
            <a:off x="6934200" y="2343150"/>
            <a:ext cx="285900" cy="2667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4"/>
          <p:cNvSpPr txBox="1"/>
          <p:nvPr/>
        </p:nvSpPr>
        <p:spPr>
          <a:xfrm>
            <a:off x="6991500" y="3162300"/>
            <a:ext cx="285900" cy="2667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4"/>
          <p:cNvSpPr txBox="1"/>
          <p:nvPr/>
        </p:nvSpPr>
        <p:spPr>
          <a:xfrm>
            <a:off x="6934200" y="3838575"/>
            <a:ext cx="285900" cy="2667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 txBox="1"/>
          <p:nvPr/>
        </p:nvSpPr>
        <p:spPr>
          <a:xfrm>
            <a:off x="6848475" y="4733925"/>
            <a:ext cx="285900" cy="266700"/>
          </a:xfrm>
          <a:prstGeom prst="rect">
            <a:avLst/>
          </a:prstGeom>
          <a:solidFill>
            <a:srgbClr val="FFE599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4"/>
          <p:cNvSpPr txBox="1"/>
          <p:nvPr/>
        </p:nvSpPr>
        <p:spPr>
          <a:xfrm>
            <a:off x="4219575" y="3623825"/>
            <a:ext cx="285900" cy="266700"/>
          </a:xfrm>
          <a:prstGeom prst="rect">
            <a:avLst/>
          </a:prstGeom>
          <a:solidFill>
            <a:srgbClr val="FFE599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ad8afea2a7_1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IoT Factories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21" name="Google Shape;221;gad8afea2a7_1_0"/>
          <p:cNvSpPr/>
          <p:nvPr/>
        </p:nvSpPr>
        <p:spPr>
          <a:xfrm>
            <a:off x="430350" y="1369325"/>
            <a:ext cx="3106782" cy="1427760"/>
          </a:xfrm>
          <a:prstGeom prst="flowChartMultidocumen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Sensor reading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Periodic Task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gad8afea2a7_1_0"/>
          <p:cNvSpPr/>
          <p:nvPr/>
        </p:nvSpPr>
        <p:spPr>
          <a:xfrm>
            <a:off x="430350" y="3670625"/>
            <a:ext cx="2970900" cy="9999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Merge &amp; Send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Sporadic Task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3" name="Google Shape;223;gad8afea2a7_1_0"/>
          <p:cNvCxnSpPr>
            <a:stCxn id="221" idx="2"/>
            <a:endCxn id="222" idx="0"/>
          </p:cNvCxnSpPr>
          <p:nvPr/>
        </p:nvCxnSpPr>
        <p:spPr>
          <a:xfrm>
            <a:off x="1767705" y="2743015"/>
            <a:ext cx="148200" cy="9276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4" name="Google Shape;224;gad8afea2a7_1_0"/>
          <p:cNvSpPr/>
          <p:nvPr/>
        </p:nvSpPr>
        <p:spPr>
          <a:xfrm>
            <a:off x="6733900" y="1451050"/>
            <a:ext cx="2970900" cy="9999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Receive Commands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Sporadic Task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gad8afea2a7_1_0"/>
          <p:cNvSpPr/>
          <p:nvPr/>
        </p:nvSpPr>
        <p:spPr>
          <a:xfrm>
            <a:off x="4947238" y="4488775"/>
            <a:ext cx="2970900" cy="9999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LED blink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Sporadic Task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6" name="Google Shape;226;gad8afea2a7_1_0"/>
          <p:cNvCxnSpPr>
            <a:stCxn id="222" idx="2"/>
            <a:endCxn id="225" idx="1"/>
          </p:cNvCxnSpPr>
          <p:nvPr/>
        </p:nvCxnSpPr>
        <p:spPr>
          <a:xfrm>
            <a:off x="1915800" y="4670525"/>
            <a:ext cx="3031500" cy="318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7" name="Google Shape;227;gad8afea2a7_1_0"/>
          <p:cNvCxnSpPr>
            <a:stCxn id="224" idx="2"/>
            <a:endCxn id="225" idx="0"/>
          </p:cNvCxnSpPr>
          <p:nvPr/>
        </p:nvCxnSpPr>
        <p:spPr>
          <a:xfrm flipH="1">
            <a:off x="6432550" y="2450950"/>
            <a:ext cx="1786800" cy="2037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adbe60d9e0_0_9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Data Manage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cxnSp>
        <p:nvCxnSpPr>
          <p:cNvPr id="233" name="Google Shape;233;gadbe60d9e0_0_9"/>
          <p:cNvCxnSpPr/>
          <p:nvPr/>
        </p:nvCxnSpPr>
        <p:spPr>
          <a:xfrm>
            <a:off x="4952850" y="1891075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4" name="Google Shape;234;gadbe60d9e0_0_9"/>
          <p:cNvSpPr txBox="1"/>
          <p:nvPr/>
        </p:nvSpPr>
        <p:spPr>
          <a:xfrm>
            <a:off x="3878550" y="1503850"/>
            <a:ext cx="21489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Manage </a:t>
            </a: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&amp; AI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5" name="Google Shape;235;gadbe60d9e0_0_9"/>
          <p:cNvCxnSpPr/>
          <p:nvPr/>
        </p:nvCxnSpPr>
        <p:spPr>
          <a:xfrm flipH="1">
            <a:off x="3941525" y="283662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6" name="Google Shape;236;gadbe60d9e0_0_9"/>
          <p:cNvCxnSpPr/>
          <p:nvPr/>
        </p:nvCxnSpPr>
        <p:spPr>
          <a:xfrm>
            <a:off x="3941525" y="3429000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7" name="Google Shape;237;gadbe60d9e0_0_9"/>
          <p:cNvCxnSpPr/>
          <p:nvPr/>
        </p:nvCxnSpPr>
        <p:spPr>
          <a:xfrm>
            <a:off x="4952850" y="283662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8" name="Google Shape;238;gadbe60d9e0_0_9"/>
          <p:cNvSpPr txBox="1"/>
          <p:nvPr/>
        </p:nvSpPr>
        <p:spPr>
          <a:xfrm>
            <a:off x="2255825" y="344052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factories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Port: 8080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gadbe60d9e0_0_9"/>
          <p:cNvSpPr txBox="1"/>
          <p:nvPr/>
        </p:nvSpPr>
        <p:spPr>
          <a:xfrm>
            <a:off x="5978250" y="344052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GUI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Port: 9090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0" name="Google Shape;240;gadbe60d9e0_0_9"/>
          <p:cNvCxnSpPr/>
          <p:nvPr/>
        </p:nvCxnSpPr>
        <p:spPr>
          <a:xfrm flipH="1">
            <a:off x="2916425" y="4386000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1" name="Google Shape;241;gadbe60d9e0_0_9"/>
          <p:cNvCxnSpPr/>
          <p:nvPr/>
        </p:nvCxnSpPr>
        <p:spPr>
          <a:xfrm>
            <a:off x="3941525" y="438607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2" name="Google Shape;242;gadbe60d9e0_0_9"/>
          <p:cNvCxnSpPr/>
          <p:nvPr/>
        </p:nvCxnSpPr>
        <p:spPr>
          <a:xfrm>
            <a:off x="2929900" y="4989900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3" name="Google Shape;243;gadbe60d9e0_0_9"/>
          <p:cNvCxnSpPr/>
          <p:nvPr/>
        </p:nvCxnSpPr>
        <p:spPr>
          <a:xfrm>
            <a:off x="4959888" y="4983950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4" name="Google Shape;244;gadbe60d9e0_0_9"/>
          <p:cNvSpPr txBox="1"/>
          <p:nvPr/>
        </p:nvSpPr>
        <p:spPr>
          <a:xfrm>
            <a:off x="1244200" y="498997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gadbe60d9e0_0_9"/>
          <p:cNvSpPr txBox="1"/>
          <p:nvPr/>
        </p:nvSpPr>
        <p:spPr>
          <a:xfrm>
            <a:off x="3280925" y="498997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gadbe60d9e0_0_9"/>
          <p:cNvCxnSpPr/>
          <p:nvPr/>
        </p:nvCxnSpPr>
        <p:spPr>
          <a:xfrm>
            <a:off x="5978238" y="3429000"/>
            <a:ext cx="300" cy="2560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7" name="Google Shape;247;gadbe60d9e0_0_9"/>
          <p:cNvSpPr txBox="1"/>
          <p:nvPr/>
        </p:nvSpPr>
        <p:spPr>
          <a:xfrm>
            <a:off x="747675" y="1503775"/>
            <a:ext cx="16860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Factories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adbe60d9e0_0_9"/>
          <p:cNvSpPr txBox="1"/>
          <p:nvPr/>
        </p:nvSpPr>
        <p:spPr>
          <a:xfrm>
            <a:off x="7472325" y="1503775"/>
            <a:ext cx="16860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9" name="Google Shape;249;gadbe60d9e0_0_9"/>
          <p:cNvCxnSpPr>
            <a:stCxn id="247" idx="2"/>
          </p:cNvCxnSpPr>
          <p:nvPr/>
        </p:nvCxnSpPr>
        <p:spPr>
          <a:xfrm>
            <a:off x="1590675" y="1891075"/>
            <a:ext cx="2322900" cy="1497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0" name="Google Shape;250;gadbe60d9e0_0_9"/>
          <p:cNvCxnSpPr/>
          <p:nvPr/>
        </p:nvCxnSpPr>
        <p:spPr>
          <a:xfrm flipH="1">
            <a:off x="5992425" y="1917000"/>
            <a:ext cx="2322900" cy="1497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ad8afea2a7_5_35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Data Manage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cxnSp>
        <p:nvCxnSpPr>
          <p:cNvPr id="256" name="Google Shape;256;gad8afea2a7_5_35"/>
          <p:cNvCxnSpPr/>
          <p:nvPr/>
        </p:nvCxnSpPr>
        <p:spPr>
          <a:xfrm>
            <a:off x="4952850" y="1891075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7" name="Google Shape;257;gad8afea2a7_5_35"/>
          <p:cNvCxnSpPr/>
          <p:nvPr/>
        </p:nvCxnSpPr>
        <p:spPr>
          <a:xfrm flipH="1">
            <a:off x="3941525" y="283662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8" name="Google Shape;258;gad8afea2a7_5_35"/>
          <p:cNvCxnSpPr/>
          <p:nvPr/>
        </p:nvCxnSpPr>
        <p:spPr>
          <a:xfrm>
            <a:off x="3941525" y="3429000"/>
            <a:ext cx="300" cy="957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9" name="Google Shape;259;gad8afea2a7_5_35"/>
          <p:cNvCxnSpPr/>
          <p:nvPr/>
        </p:nvCxnSpPr>
        <p:spPr>
          <a:xfrm>
            <a:off x="4952850" y="283662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0" name="Google Shape;260;gad8afea2a7_5_35"/>
          <p:cNvCxnSpPr/>
          <p:nvPr/>
        </p:nvCxnSpPr>
        <p:spPr>
          <a:xfrm flipH="1">
            <a:off x="2916425" y="4386000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1" name="Google Shape;261;gad8afea2a7_5_35"/>
          <p:cNvCxnSpPr/>
          <p:nvPr/>
        </p:nvCxnSpPr>
        <p:spPr>
          <a:xfrm>
            <a:off x="3941525" y="4386075"/>
            <a:ext cx="1025400" cy="603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2" name="Google Shape;262;gad8afea2a7_5_35"/>
          <p:cNvCxnSpPr/>
          <p:nvPr/>
        </p:nvCxnSpPr>
        <p:spPr>
          <a:xfrm>
            <a:off x="2929900" y="4989900"/>
            <a:ext cx="300" cy="13716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3" name="Google Shape;263;gad8afea2a7_5_35"/>
          <p:cNvCxnSpPr/>
          <p:nvPr/>
        </p:nvCxnSpPr>
        <p:spPr>
          <a:xfrm>
            <a:off x="4959888" y="4983950"/>
            <a:ext cx="300" cy="13716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4" name="Google Shape;264;gad8afea2a7_5_35"/>
          <p:cNvSpPr txBox="1"/>
          <p:nvPr/>
        </p:nvSpPr>
        <p:spPr>
          <a:xfrm>
            <a:off x="1244200" y="498997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gad8afea2a7_5_35"/>
          <p:cNvSpPr txBox="1"/>
          <p:nvPr/>
        </p:nvSpPr>
        <p:spPr>
          <a:xfrm>
            <a:off x="3280925" y="4989975"/>
            <a:ext cx="1686000" cy="3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6" name="Google Shape;266;gad8afea2a7_5_35"/>
          <p:cNvCxnSpPr/>
          <p:nvPr/>
        </p:nvCxnSpPr>
        <p:spPr>
          <a:xfrm>
            <a:off x="5978238" y="3429000"/>
            <a:ext cx="300" cy="2560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gad8afea2a7_5_35"/>
          <p:cNvSpPr txBox="1"/>
          <p:nvPr/>
        </p:nvSpPr>
        <p:spPr>
          <a:xfrm>
            <a:off x="747675" y="1503775"/>
            <a:ext cx="16860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Factories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gad8afea2a7_5_35"/>
          <p:cNvSpPr txBox="1"/>
          <p:nvPr/>
        </p:nvSpPr>
        <p:spPr>
          <a:xfrm>
            <a:off x="7472325" y="1503775"/>
            <a:ext cx="16860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9" name="Google Shape;269;gad8afea2a7_5_35"/>
          <p:cNvCxnSpPr>
            <a:stCxn id="267" idx="2"/>
          </p:cNvCxnSpPr>
          <p:nvPr/>
        </p:nvCxnSpPr>
        <p:spPr>
          <a:xfrm>
            <a:off x="1590675" y="1891075"/>
            <a:ext cx="2322900" cy="1497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0" name="Google Shape;270;gad8afea2a7_5_35"/>
          <p:cNvCxnSpPr/>
          <p:nvPr/>
        </p:nvCxnSpPr>
        <p:spPr>
          <a:xfrm flipH="1">
            <a:off x="5992425" y="1917000"/>
            <a:ext cx="2322900" cy="1497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1" name="Google Shape;271;gad8afea2a7_5_35"/>
          <p:cNvSpPr/>
          <p:nvPr/>
        </p:nvSpPr>
        <p:spPr>
          <a:xfrm>
            <a:off x="4045650" y="2136149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Launch Thread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gad8afea2a7_5_35"/>
          <p:cNvSpPr/>
          <p:nvPr/>
        </p:nvSpPr>
        <p:spPr>
          <a:xfrm>
            <a:off x="3027275" y="3610661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Communication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gad8afea2a7_5_35"/>
          <p:cNvSpPr/>
          <p:nvPr/>
        </p:nvSpPr>
        <p:spPr>
          <a:xfrm>
            <a:off x="5064000" y="3610649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Communication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gad8afea2a7_5_35"/>
          <p:cNvSpPr/>
          <p:nvPr/>
        </p:nvSpPr>
        <p:spPr>
          <a:xfrm>
            <a:off x="2015650" y="5548074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factorycommunication handler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gad8afea2a7_5_35"/>
          <p:cNvSpPr/>
          <p:nvPr/>
        </p:nvSpPr>
        <p:spPr>
          <a:xfrm>
            <a:off x="4045650" y="5548074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factorycommunication handler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gad8afea2a7_5_35"/>
          <p:cNvSpPr/>
          <p:nvPr/>
        </p:nvSpPr>
        <p:spPr>
          <a:xfrm>
            <a:off x="5064000" y="4253636"/>
            <a:ext cx="18288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GUI Communication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handler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gad8afea2a7_5_35"/>
          <p:cNvSpPr txBox="1"/>
          <p:nvPr/>
        </p:nvSpPr>
        <p:spPr>
          <a:xfrm>
            <a:off x="3878550" y="1503775"/>
            <a:ext cx="21489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Manage </a:t>
            </a: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&amp; AI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a57c1fc9d1_0_13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Data Manage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3" name="Google Shape;283;ga57c1fc9d1_0_13"/>
          <p:cNvSpPr txBox="1"/>
          <p:nvPr/>
        </p:nvSpPr>
        <p:spPr>
          <a:xfrm>
            <a:off x="200025" y="1346825"/>
            <a:ext cx="19611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Flow chart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4" name="Google Shape;284;ga57c1fc9d1_0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0025" y="2043030"/>
            <a:ext cx="9601200" cy="4572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ad8afea2a7_5_95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Data Manage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90" name="Google Shape;290;gad8afea2a7_5_95"/>
          <p:cNvSpPr txBox="1"/>
          <p:nvPr/>
        </p:nvSpPr>
        <p:spPr>
          <a:xfrm>
            <a:off x="200025" y="1346825"/>
            <a:ext cx="26193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of TCP socket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1" name="Google Shape;291;gad8afea2a7_5_9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0025" y="2043030"/>
            <a:ext cx="9601200" cy="45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gad8afea2a7_5_95"/>
          <p:cNvSpPr/>
          <p:nvPr/>
        </p:nvSpPr>
        <p:spPr>
          <a:xfrm>
            <a:off x="427525" y="22769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gad8afea2a7_5_95"/>
          <p:cNvSpPr/>
          <p:nvPr/>
        </p:nvSpPr>
        <p:spPr>
          <a:xfrm>
            <a:off x="427525" y="3467525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gad8afea2a7_5_95"/>
          <p:cNvSpPr/>
          <p:nvPr/>
        </p:nvSpPr>
        <p:spPr>
          <a:xfrm>
            <a:off x="427525" y="4057925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gad8afea2a7_5_95"/>
          <p:cNvSpPr/>
          <p:nvPr/>
        </p:nvSpPr>
        <p:spPr>
          <a:xfrm>
            <a:off x="4628050" y="28673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gad8afea2a7_5_95"/>
          <p:cNvSpPr/>
          <p:nvPr/>
        </p:nvSpPr>
        <p:spPr>
          <a:xfrm>
            <a:off x="6599725" y="28673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gad8afea2a7_5_95"/>
          <p:cNvSpPr/>
          <p:nvPr/>
        </p:nvSpPr>
        <p:spPr>
          <a:xfrm>
            <a:off x="6599725" y="22769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gad8afea2a7_5_95"/>
          <p:cNvSpPr/>
          <p:nvPr/>
        </p:nvSpPr>
        <p:spPr>
          <a:xfrm>
            <a:off x="8533300" y="3467525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gad8afea2a7_5_95"/>
          <p:cNvSpPr/>
          <p:nvPr/>
        </p:nvSpPr>
        <p:spPr>
          <a:xfrm>
            <a:off x="8533300" y="4057925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gad8afea2a7_5_95"/>
          <p:cNvSpPr txBox="1"/>
          <p:nvPr/>
        </p:nvSpPr>
        <p:spPr>
          <a:xfrm>
            <a:off x="847725" y="5205250"/>
            <a:ext cx="2486100" cy="5295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create, bind socket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wait for a client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gad8afea2a7_5_95"/>
          <p:cNvSpPr txBox="1"/>
          <p:nvPr/>
        </p:nvSpPr>
        <p:spPr>
          <a:xfrm>
            <a:off x="6819900" y="1346825"/>
            <a:ext cx="2486100" cy="5295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read/write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and command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ad8afea2a7_5_95"/>
          <p:cNvSpPr txBox="1"/>
          <p:nvPr/>
        </p:nvSpPr>
        <p:spPr>
          <a:xfrm>
            <a:off x="3399250" y="1346825"/>
            <a:ext cx="2486100" cy="5295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 a socket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data transmission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3" name="Google Shape;303;gad8afea2a7_5_95"/>
          <p:cNvCxnSpPr>
            <a:stCxn id="302" idx="2"/>
            <a:endCxn id="295" idx="0"/>
          </p:cNvCxnSpPr>
          <p:nvPr/>
        </p:nvCxnSpPr>
        <p:spPr>
          <a:xfrm>
            <a:off x="4642300" y="1876325"/>
            <a:ext cx="495300" cy="990900"/>
          </a:xfrm>
          <a:prstGeom prst="straightConnector1">
            <a:avLst/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04" name="Google Shape;304;gad8afea2a7_5_95"/>
          <p:cNvCxnSpPr>
            <a:stCxn id="301" idx="2"/>
          </p:cNvCxnSpPr>
          <p:nvPr/>
        </p:nvCxnSpPr>
        <p:spPr>
          <a:xfrm flipH="1">
            <a:off x="7791450" y="1876325"/>
            <a:ext cx="271500" cy="657300"/>
          </a:xfrm>
          <a:prstGeom prst="straightConnector1">
            <a:avLst/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05" name="Google Shape;305;gad8afea2a7_5_95"/>
          <p:cNvCxnSpPr>
            <a:stCxn id="301" idx="2"/>
          </p:cNvCxnSpPr>
          <p:nvPr/>
        </p:nvCxnSpPr>
        <p:spPr>
          <a:xfrm>
            <a:off x="8062950" y="1876325"/>
            <a:ext cx="414300" cy="1533600"/>
          </a:xfrm>
          <a:prstGeom prst="straightConnector1">
            <a:avLst/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06" name="Google Shape;306;gad8afea2a7_5_95"/>
          <p:cNvCxnSpPr>
            <a:stCxn id="300" idx="0"/>
          </p:cNvCxnSpPr>
          <p:nvPr/>
        </p:nvCxnSpPr>
        <p:spPr>
          <a:xfrm rot="10800000">
            <a:off x="1590675" y="4581550"/>
            <a:ext cx="500100" cy="623700"/>
          </a:xfrm>
          <a:prstGeom prst="straightConnector1">
            <a:avLst/>
          </a:prstGeom>
          <a:noFill/>
          <a:ln cap="flat" cmpd="sng" w="28575">
            <a:solidFill>
              <a:srgbClr val="6AA84F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gad8afea2a7_5_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0025" y="2043030"/>
            <a:ext cx="9601200" cy="45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gad8afea2a7_5_72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Data Manage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13" name="Google Shape;313;gad8afea2a7_5_72"/>
          <p:cNvSpPr txBox="1"/>
          <p:nvPr/>
        </p:nvSpPr>
        <p:spPr>
          <a:xfrm>
            <a:off x="200025" y="1346825"/>
            <a:ext cx="19611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of mutex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gad8afea2a7_5_72"/>
          <p:cNvSpPr/>
          <p:nvPr/>
        </p:nvSpPr>
        <p:spPr>
          <a:xfrm>
            <a:off x="6590200" y="34290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gad8afea2a7_5_72"/>
          <p:cNvSpPr/>
          <p:nvPr/>
        </p:nvSpPr>
        <p:spPr>
          <a:xfrm>
            <a:off x="6590200" y="408385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gad8afea2a7_5_72"/>
          <p:cNvSpPr/>
          <p:nvPr/>
        </p:nvSpPr>
        <p:spPr>
          <a:xfrm>
            <a:off x="8547600" y="2838600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gad8afea2a7_5_72"/>
          <p:cNvSpPr/>
          <p:nvPr/>
        </p:nvSpPr>
        <p:spPr>
          <a:xfrm>
            <a:off x="2551600" y="2248325"/>
            <a:ext cx="1019100" cy="5904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ad8afea2a7_5_72"/>
          <p:cNvSpPr txBox="1"/>
          <p:nvPr/>
        </p:nvSpPr>
        <p:spPr>
          <a:xfrm>
            <a:off x="2551600" y="1523825"/>
            <a:ext cx="1419300" cy="3525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initalize mutex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9" name="Google Shape;319;gad8afea2a7_5_72"/>
          <p:cNvCxnSpPr>
            <a:stCxn id="318" idx="2"/>
            <a:endCxn id="317" idx="0"/>
          </p:cNvCxnSpPr>
          <p:nvPr/>
        </p:nvCxnSpPr>
        <p:spPr>
          <a:xfrm flipH="1">
            <a:off x="3061150" y="1876325"/>
            <a:ext cx="200100" cy="372000"/>
          </a:xfrm>
          <a:prstGeom prst="straightConnector1">
            <a:avLst/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0" name="Google Shape;320;gad8afea2a7_5_72"/>
          <p:cNvSpPr txBox="1"/>
          <p:nvPr/>
        </p:nvSpPr>
        <p:spPr>
          <a:xfrm>
            <a:off x="7152175" y="1523825"/>
            <a:ext cx="1877400" cy="3525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lock &amp; unlock mutex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1" name="Google Shape;321;gad8afea2a7_5_72"/>
          <p:cNvCxnSpPr/>
          <p:nvPr/>
        </p:nvCxnSpPr>
        <p:spPr>
          <a:xfrm flipH="1">
            <a:off x="7109200" y="1876325"/>
            <a:ext cx="991200" cy="1552800"/>
          </a:xfrm>
          <a:prstGeom prst="straightConnector1">
            <a:avLst/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22" name="Google Shape;322;gad8afea2a7_5_72"/>
          <p:cNvCxnSpPr>
            <a:stCxn id="320" idx="2"/>
            <a:endCxn id="315" idx="3"/>
          </p:cNvCxnSpPr>
          <p:nvPr/>
        </p:nvCxnSpPr>
        <p:spPr>
          <a:xfrm flipH="1">
            <a:off x="7609375" y="1876325"/>
            <a:ext cx="481500" cy="2502600"/>
          </a:xfrm>
          <a:prstGeom prst="straightConnector1">
            <a:avLst/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23" name="Google Shape;323;gad8afea2a7_5_72"/>
          <p:cNvCxnSpPr>
            <a:stCxn id="320" idx="2"/>
            <a:endCxn id="316" idx="1"/>
          </p:cNvCxnSpPr>
          <p:nvPr/>
        </p:nvCxnSpPr>
        <p:spPr>
          <a:xfrm>
            <a:off x="8090875" y="1876325"/>
            <a:ext cx="456600" cy="1257600"/>
          </a:xfrm>
          <a:prstGeom prst="straightConnector1">
            <a:avLst/>
          </a:prstGeom>
          <a:noFill/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ad8afea2a7_4_0"/>
          <p:cNvSpPr txBox="1"/>
          <p:nvPr/>
        </p:nvSpPr>
        <p:spPr>
          <a:xfrm>
            <a:off x="3878550" y="1338875"/>
            <a:ext cx="2148900" cy="3873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Manage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gad8afea2a7_4_0"/>
          <p:cNvSpPr/>
          <p:nvPr/>
        </p:nvSpPr>
        <p:spPr>
          <a:xfrm>
            <a:off x="3698700" y="2337863"/>
            <a:ext cx="2508600" cy="6981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Launch Thread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Read info and Send commands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1" name="Google Shape;331;gad8afea2a7_4_0"/>
          <p:cNvCxnSpPr>
            <a:stCxn id="329" idx="2"/>
          </p:cNvCxnSpPr>
          <p:nvPr/>
        </p:nvCxnSpPr>
        <p:spPr>
          <a:xfrm flipH="1">
            <a:off x="4947000" y="1726175"/>
            <a:ext cx="6000" cy="6117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32" name="Google Shape;332;gad8afea2a7_4_0"/>
          <p:cNvCxnSpPr/>
          <p:nvPr/>
        </p:nvCxnSpPr>
        <p:spPr>
          <a:xfrm flipH="1">
            <a:off x="2085500" y="3045600"/>
            <a:ext cx="2829600" cy="824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3" name="Google Shape;333;gad8afea2a7_4_0"/>
          <p:cNvSpPr/>
          <p:nvPr/>
        </p:nvSpPr>
        <p:spPr>
          <a:xfrm>
            <a:off x="1443000" y="3870288"/>
            <a:ext cx="11646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Display Thread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gad8afea2a7_4_0"/>
          <p:cNvSpPr/>
          <p:nvPr/>
        </p:nvSpPr>
        <p:spPr>
          <a:xfrm>
            <a:off x="6558325" y="3821975"/>
            <a:ext cx="14625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Update display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gad8afea2a7_4_0"/>
          <p:cNvSpPr/>
          <p:nvPr/>
        </p:nvSpPr>
        <p:spPr>
          <a:xfrm>
            <a:off x="8266838" y="4875625"/>
            <a:ext cx="11646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Thread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6" name="Google Shape;336;gad8afea2a7_4_0"/>
          <p:cNvCxnSpPr/>
          <p:nvPr/>
        </p:nvCxnSpPr>
        <p:spPr>
          <a:xfrm>
            <a:off x="4918550" y="3035975"/>
            <a:ext cx="2521500" cy="786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gad8afea2a7_4_0"/>
          <p:cNvSpPr txBox="1"/>
          <p:nvPr/>
        </p:nvSpPr>
        <p:spPr>
          <a:xfrm>
            <a:off x="7026575" y="1794550"/>
            <a:ext cx="2508600" cy="897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 a client connection to read the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information  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8" name="Google Shape;338;gad8afea2a7_4_0"/>
          <p:cNvCxnSpPr>
            <a:stCxn id="335" idx="0"/>
          </p:cNvCxnSpPr>
          <p:nvPr/>
        </p:nvCxnSpPr>
        <p:spPr>
          <a:xfrm rot="10800000">
            <a:off x="7518038" y="4277425"/>
            <a:ext cx="1331100" cy="598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9" name="Google Shape;339;gad8afea2a7_4_0"/>
          <p:cNvCxnSpPr>
            <a:endCxn id="340" idx="0"/>
          </p:cNvCxnSpPr>
          <p:nvPr/>
        </p:nvCxnSpPr>
        <p:spPr>
          <a:xfrm flipH="1">
            <a:off x="6224863" y="4273525"/>
            <a:ext cx="1341300" cy="6021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0" name="Google Shape;340;gad8afea2a7_4_0"/>
          <p:cNvSpPr/>
          <p:nvPr/>
        </p:nvSpPr>
        <p:spPr>
          <a:xfrm>
            <a:off x="5642563" y="4875625"/>
            <a:ext cx="1164600" cy="455400"/>
          </a:xfrm>
          <a:prstGeom prst="rect">
            <a:avLst/>
          </a:prstGeom>
          <a:solidFill>
            <a:srgbClr val="FBE39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Send Commands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gad8afea2a7_4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Graphical Interface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af59b23b9b_2_0"/>
          <p:cNvSpPr txBox="1"/>
          <p:nvPr>
            <p:ph idx="4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348" name="Google Shape;348;gaf59b23b9b_2_0"/>
          <p:cNvSpPr txBox="1"/>
          <p:nvPr>
            <p:ph idx="5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pic>
        <p:nvPicPr>
          <p:cNvPr id="349" name="Google Shape;349;gaf59b23b9b_2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838" y="1421675"/>
            <a:ext cx="8543925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gaf59b23b9b_2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GUI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ad8afea2a7_3_0"/>
          <p:cNvSpPr txBox="1"/>
          <p:nvPr>
            <p:ph idx="2" type="body"/>
          </p:nvPr>
        </p:nvSpPr>
        <p:spPr>
          <a:xfrm>
            <a:off x="440140" y="1987248"/>
            <a:ext cx="9015900" cy="4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6875" lvl="0" marL="533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Arial"/>
              <a:buChar char="●"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AI’s purpose: To predict values based on received data:​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-Time, pressure/humidity/temperature. ​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-Data received as a structure. ​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-Prediction made using a linear regression model. This model is computed using the GSL library. ​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-Data received every 5 seconds. ​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-Prediction done at every reception of data.</a:t>
            </a:r>
            <a:endParaRPr sz="2850">
              <a:solidFill>
                <a:schemeClr val="dk1"/>
              </a:solidFill>
              <a:highlight>
                <a:srgbClr val="EDEBE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57" name="Google Shape;357;gad8afea2a7_3_0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AI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ad8afea2a7_3_13"/>
          <p:cNvSpPr txBox="1"/>
          <p:nvPr>
            <p:ph idx="2" type="body"/>
          </p:nvPr>
        </p:nvSpPr>
        <p:spPr>
          <a:xfrm>
            <a:off x="747575" y="1542675"/>
            <a:ext cx="7828800" cy="4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 with the data processing: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-the function Pred() is called after reception of data. The data comes as a structure.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-The structure is divided in values of time pressure, humidity and temperature. These values are swiped in the existing array and used in the function argument.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-Pred() takes into argument arrays of the time and the received value of data to be predicted.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gad8afea2a7_3_13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AI : The code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ad8afea2a7_3_26"/>
          <p:cNvSpPr txBox="1"/>
          <p:nvPr>
            <p:ph idx="2" type="body"/>
          </p:nvPr>
        </p:nvSpPr>
        <p:spPr>
          <a:xfrm>
            <a:off x="583021" y="1939850"/>
            <a:ext cx="6228900" cy="4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function Pred():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-uses the gsl function gsl_fit_linear to calculate the linear regression.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-returns the values of temperature, pressure or humidity predicted as double, later sent to GUI. </a:t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gad8afea2a7_3_26"/>
          <p:cNvSpPr txBox="1"/>
          <p:nvPr>
            <p:ph idx="7" type="body"/>
          </p:nvPr>
        </p:nvSpPr>
        <p:spPr>
          <a:xfrm>
            <a:off x="1198500" y="313850"/>
            <a:ext cx="92820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-US" sz="3600">
                <a:latin typeface="Arial"/>
                <a:ea typeface="Arial"/>
                <a:cs typeface="Arial"/>
                <a:sym typeface="Arial"/>
              </a:rPr>
              <a:t>AI :  The function Pred</a:t>
            </a:r>
            <a:endParaRPr b="0" sz="3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sz="3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ad8afea2a7_3_39"/>
          <p:cNvSpPr txBox="1"/>
          <p:nvPr>
            <p:ph idx="1" type="body"/>
          </p:nvPr>
        </p:nvSpPr>
        <p:spPr>
          <a:xfrm>
            <a:off x="440140" y="1671336"/>
            <a:ext cx="9015900" cy="3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78" name="Google Shape;378;gad8afea2a7_3_39"/>
          <p:cNvSpPr txBox="1"/>
          <p:nvPr>
            <p:ph idx="2" type="body"/>
          </p:nvPr>
        </p:nvSpPr>
        <p:spPr>
          <a:xfrm>
            <a:off x="440140" y="1987248"/>
            <a:ext cx="9015900" cy="4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79" name="Google Shape;379;gad8afea2a7_3_39"/>
          <p:cNvSpPr txBox="1"/>
          <p:nvPr>
            <p:ph idx="3" type="body"/>
          </p:nvPr>
        </p:nvSpPr>
        <p:spPr>
          <a:xfrm>
            <a:off x="4356576" y="6433565"/>
            <a:ext cx="25152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380" name="Google Shape;380;gad8afea2a7_3_39"/>
          <p:cNvSpPr txBox="1"/>
          <p:nvPr>
            <p:ph idx="4" type="body"/>
          </p:nvPr>
        </p:nvSpPr>
        <p:spPr>
          <a:xfrm>
            <a:off x="6871335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381" name="Google Shape;381;gad8afea2a7_3_39"/>
          <p:cNvSpPr txBox="1"/>
          <p:nvPr>
            <p:ph idx="5" type="body"/>
          </p:nvPr>
        </p:nvSpPr>
        <p:spPr>
          <a:xfrm>
            <a:off x="7852801" y="6433565"/>
            <a:ext cx="186600" cy="2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382" name="Google Shape;382;gad8afea2a7_3_39"/>
          <p:cNvSpPr txBox="1"/>
          <p:nvPr>
            <p:ph idx="6" type="body"/>
          </p:nvPr>
        </p:nvSpPr>
        <p:spPr>
          <a:xfrm>
            <a:off x="7061961" y="6434138"/>
            <a:ext cx="791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</a:pPr>
            <a:r>
              <a:t/>
            </a:r>
            <a:endParaRPr/>
          </a:p>
        </p:txBody>
      </p:sp>
      <p:sp>
        <p:nvSpPr>
          <p:cNvPr id="383" name="Google Shape;383;gad8afea2a7_3_39"/>
          <p:cNvSpPr txBox="1"/>
          <p:nvPr>
            <p:ph idx="7" type="body"/>
          </p:nvPr>
        </p:nvSpPr>
        <p:spPr>
          <a:xfrm>
            <a:off x="398462" y="457916"/>
            <a:ext cx="9033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/>
          </a:p>
        </p:txBody>
      </p:sp>
      <p:sp>
        <p:nvSpPr>
          <p:cNvPr id="384" name="Google Shape;384;gad8afea2a7_3_39"/>
          <p:cNvSpPr txBox="1"/>
          <p:nvPr/>
        </p:nvSpPr>
        <p:spPr>
          <a:xfrm>
            <a:off x="1605150" y="3038475"/>
            <a:ext cx="66957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uverture">
  <a:themeElements>
    <a:clrScheme name="ISAE Couleurs Charte">
      <a:dk1>
        <a:srgbClr val="000000"/>
      </a:dk1>
      <a:lt1>
        <a:srgbClr val="FFFFFF"/>
      </a:lt1>
      <a:dk2>
        <a:srgbClr val="929395"/>
      </a:dk2>
      <a:lt2>
        <a:srgbClr val="B1B3B4"/>
      </a:lt2>
      <a:accent1>
        <a:srgbClr val="00AAFF"/>
      </a:accent1>
      <a:accent2>
        <a:srgbClr val="FFED00"/>
      </a:accent2>
      <a:accent3>
        <a:srgbClr val="122372"/>
      </a:accent3>
      <a:accent4>
        <a:srgbClr val="F8B11C"/>
      </a:accent4>
      <a:accent5>
        <a:srgbClr val="9A141B"/>
      </a:accent5>
      <a:accent6>
        <a:srgbClr val="26B0A0"/>
      </a:accent6>
      <a:hlink>
        <a:srgbClr val="97BF0D"/>
      </a:hlink>
      <a:folHlink>
        <a:srgbClr val="B67F8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ges contenus">
  <a:themeElements>
    <a:clrScheme name="ISAE Couleurs Charte">
      <a:dk1>
        <a:srgbClr val="000000"/>
      </a:dk1>
      <a:lt1>
        <a:srgbClr val="FFFFFF"/>
      </a:lt1>
      <a:dk2>
        <a:srgbClr val="929395"/>
      </a:dk2>
      <a:lt2>
        <a:srgbClr val="B1B3B4"/>
      </a:lt2>
      <a:accent1>
        <a:srgbClr val="00AAFF"/>
      </a:accent1>
      <a:accent2>
        <a:srgbClr val="FFED00"/>
      </a:accent2>
      <a:accent3>
        <a:srgbClr val="122372"/>
      </a:accent3>
      <a:accent4>
        <a:srgbClr val="F8B11C"/>
      </a:accent4>
      <a:accent5>
        <a:srgbClr val="9A141B"/>
      </a:accent5>
      <a:accent6>
        <a:srgbClr val="26B0A0"/>
      </a:accent6>
      <a:hlink>
        <a:srgbClr val="97BF0D"/>
      </a:hlink>
      <a:folHlink>
        <a:srgbClr val="B67F8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ème Office">
  <a:themeElements>
    <a:clrScheme name="Bureau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